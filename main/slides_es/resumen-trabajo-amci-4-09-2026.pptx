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4" r:id="rId4"/>
    <p:sldId id="263" r:id="rId5"/>
    <p:sldId id="261" r:id="rId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scar Andres Rincon Cardeño" initials="OARC" lastIdx="1" clrIdx="0">
    <p:extLst>
      <p:ext uri="{19B8F6BF-5375-455C-9EA6-DF929625EA0E}">
        <p15:presenceInfo xmlns:p15="http://schemas.microsoft.com/office/powerpoint/2012/main" userId="S::orincon@eafit.edu.co::0eb7a243-0e55-4e0b-bc15-7fcfa587c29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3E8"/>
    <a:srgbClr val="B9CBE0"/>
    <a:srgbClr val="F5F5F5"/>
    <a:srgbClr val="E4E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73" autoAdjust="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4FA8BE-7F6A-422C-8FCB-974C04211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19327F8-0C05-4325-BADB-574FF0EBD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2035438-6A13-4205-B6E4-DC21E2420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712E56-6A5A-4A14-8F2F-8D1FD1C6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472DA6-A54F-44AC-9C07-104996B94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33860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6836E4-5B10-41BE-8FBD-348A4C05D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3661FA-390C-4149-9C8D-2CDBDC9B8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611A4F-734B-4AD2-8B1D-51B7EFF04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183B3F-19AD-44B1-8980-9FF838929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FF0A9D5-FCD3-44C2-AF7F-DE1DAF73F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6287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D1D65E-0CF0-46E4-97B7-E0102601D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5DDD68D-31DE-4F11-A345-FB6D7B9A6E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C5C76C-2173-4469-83A1-653088127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5DCD0E-B578-4839-90FB-10C33F883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8F1774-AD45-4B0E-B2E3-81BE9CC11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2128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2C2C30-636C-435E-AC1F-B1E75E364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758A2D0-8DE0-40A1-9645-2E0F723A0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98DC0EA-D107-4CE0-8C49-1DF5640580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9FADE1-65E6-4094-BB63-E715145C4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375DF3B-98E8-4D57-B8EE-52B1B459D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62F243-5EA2-42D8-872F-11DF74ECA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31739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019F9-76A3-4983-9D54-71BFB1B5C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41969A-14A6-47AA-B185-1EAEADF8D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E19913-ACF8-4DBA-9B1D-0D335E3182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BC71F48-EBC4-4EE3-A043-6A793CAFE7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ECF46BE-491E-4DCE-81C2-3E9BF963CA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CFE3EE3-CD38-4152-8745-28F6360E4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0D54487-B0C4-4BF2-B979-89DDFBF1C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050F3B9-B34D-4624-B485-2270E55C6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737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1DDBF7-AD3E-4F89-B467-53299A38C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854D49A-7698-4F1A-82EB-9EBCABF3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88D5822-EB9E-40E1-B0C5-8F27FB4CC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403B14F-1A45-472D-ADFE-5D7CAFB30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884782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44C38EB-196D-4BB2-BB61-BD64DBEB1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662C282-95C1-46FF-B130-315F829EA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AE883A-15F9-4FFC-A89B-245739C0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94911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22123-1C6C-4CBE-BE2B-DDBA7DDFC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DCDE70-541E-402B-B3E4-BB82DE73DD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2D01FA2-A8C1-4796-A169-5057744CC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CFD97E3-E3B0-4277-AA2F-F12F12DFF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9CB075-80CD-4F68-ACB8-6ECE78CC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E7334C7-8673-4020-918F-080430E1B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7441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95FCC5-68D1-4DD4-BD10-F25507A22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F4016D0-E5AB-4226-81C5-FEB8FA7925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1A9FE32-8729-4ECD-A7DA-D117C1746A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A2FE3E6-E93E-4689-B460-5D6B0CD3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BD18E42-A7F6-4E83-B3F7-4E64F7C3F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9F956E-96F2-41A3-8EEF-A78BB9BD4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41685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B09F07-4896-409D-B377-167B81462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D4F235D-5634-4E52-A381-94B4A98E5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C3EB5E-C24B-4C5A-9D4B-7071088C1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3E2C08-017F-4E6A-B1CA-77E3795F8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FCAEFD-F210-45B9-B8B7-BA58B4C75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7598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381565-7A36-47C2-AFF9-651ABC126D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C841E46-034C-4BD8-9A78-F193AAAB5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54D2C3-70D8-4CCA-AF0C-4A404AC29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9AE6CA-937F-4203-94B8-F99951091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F43495-2013-457E-82C5-102937782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11331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82BC001-427C-45D3-BE99-16D6DD0B2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A4214-2D5D-4341-863C-DE741AEA1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AB59E2-6A2E-4CF5-B54E-A5708CB453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33D45-214F-4590-AE5F-D6D9CBF27883}" type="datetimeFigureOut">
              <a:rPr lang="es-CO" smtClean="0"/>
              <a:t>14/09/2026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8BDB81-B228-4D29-BF3F-0234C2DBFC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B8FE85-B68B-4B38-96CB-CC05164FB3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5493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020C42A9-D5AE-4BAB-B542-490C05A3598B}"/>
              </a:ext>
            </a:extLst>
          </p:cNvPr>
          <p:cNvSpPr txBox="1"/>
          <p:nvPr/>
        </p:nvSpPr>
        <p:spPr>
          <a:xfrm>
            <a:off x="1145241" y="1328360"/>
            <a:ext cx="9525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400" b="1" dirty="0">
                <a:solidFill>
                  <a:srgbClr val="0070C0"/>
                </a:solidFill>
                <a:latin typeface="Montserrat" panose="00000500000000000000" pitchFamily="2" charset="0"/>
                <a:ea typeface="xkcd Script" panose="03000503000000000000" pitchFamily="66" charset="0"/>
                <a:cs typeface="Segoe UI" panose="020B0502040204020203" pitchFamily="34" charset="0"/>
              </a:rPr>
              <a:t>Aprendizaje automático en el modelado de la propagación de ondas: De los métodos numéricos estándar a las redes neuronales informadas por la física en sismología</a:t>
            </a:r>
            <a:endParaRPr lang="es-CO" sz="2400" b="1" dirty="0">
              <a:solidFill>
                <a:srgbClr val="0070C0"/>
              </a:solidFill>
              <a:latin typeface="Montserrat" panose="00000500000000000000" pitchFamily="2" charset="0"/>
              <a:ea typeface="xkcd Script" panose="03000503000000000000" pitchFamily="66" charset="0"/>
              <a:cs typeface="Segoe UI" panose="020B0502040204020203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0241A18-AAD6-4D5F-9AF2-13D545084A6E}"/>
              </a:ext>
            </a:extLst>
          </p:cNvPr>
          <p:cNvSpPr txBox="1"/>
          <p:nvPr/>
        </p:nvSpPr>
        <p:spPr>
          <a:xfrm>
            <a:off x="1266265" y="3267483"/>
            <a:ext cx="44415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Oscar Andrés Rincón Cardeño</a:t>
            </a:r>
          </a:p>
          <a:p>
            <a:r>
              <a:rPr lang="es-MX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Doctorado en Ingeniería</a:t>
            </a:r>
          </a:p>
          <a:p>
            <a:endParaRPr lang="es-MX" sz="1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s-MX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Aplicaciones Matemáticas en Ciencia e Ingeniería </a:t>
            </a:r>
          </a:p>
          <a:p>
            <a:r>
              <a:rPr lang="es-MX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Universidad EAFIT </a:t>
            </a:r>
          </a:p>
          <a:p>
            <a:r>
              <a:rPr lang="es-CO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Septiembre del 2026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C9F1322-5ECA-4632-BF3D-AB2406E2F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741" y="2971060"/>
            <a:ext cx="4765618" cy="242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3489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uadroTexto 23">
            <a:extLst>
              <a:ext uri="{FF2B5EF4-FFF2-40B4-BE49-F238E27FC236}">
                <a16:creationId xmlns:a16="http://schemas.microsoft.com/office/drawing/2014/main" id="{830210DF-8429-E740-4D19-C9B04C222C11}"/>
              </a:ext>
            </a:extLst>
          </p:cNvPr>
          <p:cNvSpPr txBox="1"/>
          <p:nvPr/>
        </p:nvSpPr>
        <p:spPr>
          <a:xfrm>
            <a:off x="668337" y="3113362"/>
            <a:ext cx="2825362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Se concibe como un continuo que va desde </a:t>
            </a:r>
            <a:r>
              <a:rPr lang="es-ES" sz="1400" dirty="0">
                <a:solidFill>
                  <a:srgbClr val="0070C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modelos puramente basados ​​en datos </a:t>
            </a:r>
            <a:r>
              <a:rPr lang="es-ES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hasta modelos </a:t>
            </a:r>
            <a:r>
              <a:rPr lang="es-ES" sz="1400" dirty="0">
                <a:solidFill>
                  <a:srgbClr val="0070C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totalmente basados ​​en la física</a:t>
            </a:r>
            <a:r>
              <a:rPr lang="es-ES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, con los tres mecanismos de sesgo </a:t>
            </a:r>
            <a:r>
              <a:rPr lang="es-ES" sz="1400" dirty="0">
                <a:solidFill>
                  <a:srgbClr val="0070C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(inductivo, observacional y de aprendizaje) </a:t>
            </a:r>
            <a:r>
              <a:rPr lang="es-ES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posicionados según el punto donde interviene en el procedimiento de entrenamiento</a:t>
            </a:r>
            <a:endParaRPr lang="es-MX" sz="1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315" name="CuadroTexto 314">
            <a:extLst>
              <a:ext uri="{FF2B5EF4-FFF2-40B4-BE49-F238E27FC236}">
                <a16:creationId xmlns:a16="http://schemas.microsoft.com/office/drawing/2014/main" id="{54182B40-84EE-BB5B-8692-C3375C995788}"/>
              </a:ext>
            </a:extLst>
          </p:cNvPr>
          <p:cNvSpPr txBox="1"/>
          <p:nvPr/>
        </p:nvSpPr>
        <p:spPr>
          <a:xfrm>
            <a:off x="668337" y="821768"/>
            <a:ext cx="29029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0070C0"/>
                </a:solidFill>
                <a:latin typeface="Montserrat" pitchFamily="2" charset="0"/>
                <a:ea typeface="xkcd Script" panose="03000503000000000000" pitchFamily="66" charset="0"/>
                <a:cs typeface="Segoe UI" panose="020B0502040204020203" pitchFamily="34" charset="0"/>
              </a:rPr>
              <a:t>Taxonomía de aprendizaje automático basada en la física y mecanismos de incorporación de conocimiento</a:t>
            </a:r>
            <a:endParaRPr lang="es-CO" sz="2000" b="1" dirty="0">
              <a:solidFill>
                <a:srgbClr val="0070C0"/>
              </a:solidFill>
              <a:latin typeface="Montserrat" pitchFamily="2" charset="0"/>
              <a:cs typeface="Segoe UI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7285FA-78B1-4039-BCBE-D4B666906E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187" y="639421"/>
            <a:ext cx="6849032" cy="5231776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F3078714-3B33-426C-D29E-360BEA0339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 flipV="1">
            <a:off x="8686800" y="6256679"/>
            <a:ext cx="3314700" cy="52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094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B49BB-3AF3-05C7-EE01-CF6C106CA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DB25C27E-4E95-10B5-CC28-D8B5E189F528}"/>
              </a:ext>
            </a:extLst>
          </p:cNvPr>
          <p:cNvSpPr txBox="1"/>
          <p:nvPr/>
        </p:nvSpPr>
        <p:spPr>
          <a:xfrm>
            <a:off x="902927" y="1197355"/>
            <a:ext cx="276189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0070C0"/>
                </a:solidFill>
                <a:latin typeface="Montserrat" pitchFamily="2" charset="0"/>
              </a:rPr>
              <a:t>Problemas inversos no acotados con soluciones manufacturadas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6CD162B-7A14-9E6E-E66D-6097F149299F}"/>
              </a:ext>
            </a:extLst>
          </p:cNvPr>
          <p:cNvSpPr txBox="1"/>
          <p:nvPr/>
        </p:nvSpPr>
        <p:spPr>
          <a:xfrm>
            <a:off x="902927" y="2893191"/>
            <a:ext cx="285390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1) </a:t>
            </a:r>
            <a:r>
              <a:rPr lang="es-CO" sz="14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Aproximación de la solución en </a:t>
            </a:r>
            <a:r>
              <a:rPr lang="es-CO" sz="1400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ausencia de información </a:t>
            </a:r>
            <a:r>
              <a:rPr lang="es-CO" sz="14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explícita</a:t>
            </a:r>
            <a:r>
              <a:rPr lang="es-CO" sz="1400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 sobre las fronteras</a:t>
            </a:r>
          </a:p>
          <a:p>
            <a:endParaRPr lang="es-CO" sz="1400" dirty="0">
              <a:solidFill>
                <a:srgbClr val="0070C0"/>
              </a:solidFill>
              <a:latin typeface="Montserrat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s-CO" sz="1400" b="1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2) </a:t>
            </a:r>
            <a:r>
              <a:rPr lang="es-CO" sz="14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Recuperación de </a:t>
            </a:r>
            <a:r>
              <a:rPr lang="es-CO" sz="1400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coeficientes </a:t>
            </a:r>
            <a:r>
              <a:rPr lang="es-CO" sz="1400" i="1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k</a:t>
            </a:r>
            <a:r>
              <a:rPr lang="es-CO" sz="1400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es-CO" sz="14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desconocidos que varían espacialmente </a:t>
            </a:r>
          </a:p>
          <a:p>
            <a:endParaRPr lang="es-CO" sz="1400" b="1" dirty="0">
              <a:solidFill>
                <a:srgbClr val="0070C0"/>
              </a:solidFill>
              <a:latin typeface="Montserrat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s-CO" sz="1400" b="1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3) </a:t>
            </a:r>
            <a:r>
              <a:rPr lang="es-CO" sz="1400" dirty="0">
                <a:latin typeface="Montserrat" pitchFamily="2" charset="0"/>
                <a:ea typeface="Open Sans" pitchFamily="2" charset="0"/>
                <a:cs typeface="Open Sans" pitchFamily="2" charset="0"/>
              </a:rPr>
              <a:t>Representación del comportamiento de la solución </a:t>
            </a:r>
            <a:r>
              <a:rPr lang="es-CO" sz="1400" dirty="0">
                <a:solidFill>
                  <a:srgbClr val="0070C0"/>
                </a:solidFill>
                <a:latin typeface="Montserrat" pitchFamily="2" charset="0"/>
                <a:ea typeface="Open Sans" pitchFamily="2" charset="0"/>
                <a:cs typeface="Open Sans" pitchFamily="2" charset="0"/>
              </a:rPr>
              <a:t>fuera de la región de entrenamiento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E3C1A32-4180-4112-AF2F-434BBA903B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6372" y="958552"/>
            <a:ext cx="7117602" cy="4940896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92443098-0267-CE68-26FD-F0D4EFFAF6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 flipV="1">
            <a:off x="8686800" y="6256679"/>
            <a:ext cx="3314700" cy="52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56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26E65-C698-7835-9E16-F91941A81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uadroTexto 10">
            <a:extLst>
              <a:ext uri="{FF2B5EF4-FFF2-40B4-BE49-F238E27FC236}">
                <a16:creationId xmlns:a16="http://schemas.microsoft.com/office/drawing/2014/main" id="{9697FF6B-9CC3-153E-F722-EF9A84B87C3A}"/>
              </a:ext>
            </a:extLst>
          </p:cNvPr>
          <p:cNvSpPr txBox="1"/>
          <p:nvPr/>
        </p:nvSpPr>
        <p:spPr>
          <a:xfrm>
            <a:off x="706349" y="2337896"/>
            <a:ext cx="294431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Dado que el dominio computacional no puede muestrearse uniformemente en una región infinita, </a:t>
            </a:r>
            <a:r>
              <a:rPr lang="es-CO" sz="1400" dirty="0">
                <a:solidFill>
                  <a:srgbClr val="0070C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la elección de los puntos de colocación resulta crucial </a:t>
            </a:r>
            <a:r>
              <a:rPr lang="es-CO" sz="1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para representar con precisión tanto la región donde la solución presenta variaciones significativas como su comportamiento asintótico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AEBD963-788E-E75F-5242-2B251EFF2A95}"/>
              </a:ext>
            </a:extLst>
          </p:cNvPr>
          <p:cNvSpPr txBox="1"/>
          <p:nvPr/>
        </p:nvSpPr>
        <p:spPr>
          <a:xfrm>
            <a:off x="661524" y="896686"/>
            <a:ext cx="314648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0070C0"/>
                </a:solidFill>
                <a:latin typeface="Montserrat" panose="00000500000000000000" pitchFamily="2" charset="0"/>
              </a:rPr>
              <a:t>Estrategias para el aprendizaje basado en la física en dominios no acotados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8D976ED-1B58-4AE4-AE3B-DD0CABAD3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0667" y="678114"/>
            <a:ext cx="7620000" cy="5283200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BB917775-E486-0488-3CF7-DEF29B629B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 flipV="1">
            <a:off x="8686800" y="6256679"/>
            <a:ext cx="3314700" cy="52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862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4C7E0-988B-4426-79F8-919BFB416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4D8D15D-6F89-4163-AD90-183292B883F0}"/>
              </a:ext>
            </a:extLst>
          </p:cNvPr>
          <p:cNvSpPr txBox="1"/>
          <p:nvPr/>
        </p:nvSpPr>
        <p:spPr>
          <a:xfrm>
            <a:off x="865687" y="1897290"/>
            <a:ext cx="298873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600" dirty="0">
                <a:latin typeface="Open Sans" pitchFamily="2" charset="0"/>
                <a:ea typeface="Open Sans" pitchFamily="2" charset="0"/>
                <a:cs typeface="Open Sans" pitchFamily="2" charset="0"/>
              </a:rPr>
              <a:t>Generalización espacial del enfoque propuesto para el problema inverso de dominio infinito mediante muestreo uniforme y gaussiano</a:t>
            </a:r>
          </a:p>
        </p:txBody>
      </p:sp>
      <p:pic>
        <p:nvPicPr>
          <p:cNvPr id="1560" name="Imagen 1559">
            <a:extLst>
              <a:ext uri="{FF2B5EF4-FFF2-40B4-BE49-F238E27FC236}">
                <a16:creationId xmlns:a16="http://schemas.microsoft.com/office/drawing/2014/main" id="{E6F21920-6E8F-415F-A5EA-F8811C3BE0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263" y="352633"/>
            <a:ext cx="6245050" cy="5736192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97837598-D783-0E5A-0427-0F72C6E5DA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 flipV="1">
            <a:off x="8753475" y="6275729"/>
            <a:ext cx="3314700" cy="52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22528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1515</TotalTime>
  <Words>220</Words>
  <Application>Microsoft Office PowerPoint</Application>
  <PresentationFormat>Panorámica</PresentationFormat>
  <Paragraphs>18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Montserrat</vt:lpstr>
      <vt:lpstr>Open Sans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Oscar Andres Rincon Cardeño</dc:creator>
  <cp:lastModifiedBy>Oscar Andres Rincon Cardeño</cp:lastModifiedBy>
  <cp:revision>49</cp:revision>
  <dcterms:created xsi:type="dcterms:W3CDTF">2026-07-31T14:29:08Z</dcterms:created>
  <dcterms:modified xsi:type="dcterms:W3CDTF">2026-09-14T22:31:45Z</dcterms:modified>
</cp:coreProperties>
</file>