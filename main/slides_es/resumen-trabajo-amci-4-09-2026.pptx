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4" r:id="rId4"/>
    <p:sldId id="263" r:id="rId5"/>
    <p:sldId id="261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car Andres Rincon Cardeño" initials="OARC" lastIdx="1" clrIdx="0">
    <p:extLst>
      <p:ext uri="{19B8F6BF-5375-455C-9EA6-DF929625EA0E}">
        <p15:presenceInfo xmlns:p15="http://schemas.microsoft.com/office/powerpoint/2012/main" userId="S::orincon@eafit.edu.co::0eb7a243-0e55-4e0b-bc15-7fcfa587c2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3E8"/>
    <a:srgbClr val="B9CBE0"/>
    <a:srgbClr val="F5F5F5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FA8BE-7F6A-422C-8FCB-974C04211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9327F8-0C05-4325-BADB-574FF0EBD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035438-6A13-4205-B6E4-DC21E242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12E56-6A5A-4A14-8F2F-8D1FD1C6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472DA6-A54F-44AC-9C07-104996B9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386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836E4-5B10-41BE-8FBD-348A4C05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661FA-390C-4149-9C8D-2CDBDC9B8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611A4F-734B-4AD2-8B1D-51B7EFF04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183B3F-19AD-44B1-8980-9FF83892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0A9D5-FCD3-44C2-AF7F-DE1DAF73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628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1D65E-0CF0-46E4-97B7-E0102601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DD68D-31DE-4F11-A345-FB6D7B9A6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5C76C-2173-4469-83A1-65308812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DCD0E-B578-4839-90FB-10C33F88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F1774-AD45-4B0E-B2E3-81BE9CC1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212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C2C30-636C-435E-AC1F-B1E75E36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58A2D0-8DE0-40A1-9645-2E0F723A0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8DC0EA-D107-4CE0-8C49-1DF564058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9FADE1-65E6-4094-BB63-E715145C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75DF3B-98E8-4D57-B8EE-52B1B459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F243-5EA2-42D8-872F-11DF74EC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73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019F9-76A3-4983-9D54-71BFB1B5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41969A-14A6-47AA-B185-1EAEADF8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E19913-ACF8-4DBA-9B1D-0D335E318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C71F48-EBC4-4EE3-A043-6A793CAFE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CF46BE-491E-4DCE-81C2-3E9BF963C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FE3EE3-CD38-4152-8745-28F6360E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0D54487-B0C4-4BF2-B979-89DDFBF1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050F3B9-B34D-4624-B485-2270E55C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737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DDBF7-AD3E-4F89-B467-53299A38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54D49A-7698-4F1A-82EB-9EBCABF3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8D5822-EB9E-40E1-B0C5-8F27FB4C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03B14F-1A45-472D-ADFE-5D7CAFB3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847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4C38EB-196D-4BB2-BB61-BD64DBEB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62C282-95C1-46FF-B130-315F829E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AE883A-15F9-4FFC-A89B-245739C0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491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22123-1C6C-4CBE-BE2B-DDBA7DDF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DCDE70-541E-402B-B3E4-BB82DE73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D01FA2-A8C1-4796-A169-5057744CC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FD97E3-E3B0-4277-AA2F-F12F12DF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9CB075-80CD-4F68-ACB8-6ECE78CC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7334C7-8673-4020-918F-080430E1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441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5FCC5-68D1-4DD4-BD10-F25507A2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4016D0-E5AB-4226-81C5-FEB8FA792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A9FE32-8729-4ECD-A7DA-D117C1746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2FE3E6-E93E-4689-B460-5D6B0CD3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D18E42-A7F6-4E83-B3F7-4E64F7C3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F956E-96F2-41A3-8EEF-A78BB9BD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685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09F07-4896-409D-B377-167B8146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4F235D-5634-4E52-A381-94B4A98E5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3EB5E-C24B-4C5A-9D4B-7071088C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3E2C08-017F-4E6A-B1CA-77E3795F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CAEFD-F210-45B9-B8B7-BA58B4C7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598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381565-7A36-47C2-AFF9-651ABC126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841E46-034C-4BD8-9A78-F193AAAB5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4D2C3-70D8-4CCA-AF0C-4A404AC2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AE6CA-937F-4203-94B8-F9995109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F43495-2013-457E-82C5-10293778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133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2BC001-427C-45D3-BE99-16D6DD0B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A4214-2D5D-4341-863C-DE741AEA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AB59E2-6A2E-4CF5-B54E-A5708CB45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33D45-214F-4590-AE5F-D6D9CBF27883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BDB81-B228-4D29-BF3F-0234C2DBF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8FE85-B68B-4B38-96CB-CC05164FB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DB78F-CE77-4161-B490-0359D3BC84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49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0C42A9-D5AE-4BAB-B542-490C05A3598B}"/>
              </a:ext>
            </a:extLst>
          </p:cNvPr>
          <p:cNvSpPr txBox="1"/>
          <p:nvPr/>
        </p:nvSpPr>
        <p:spPr>
          <a:xfrm>
            <a:off x="1333500" y="736702"/>
            <a:ext cx="9525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rgbClr val="0070C0"/>
                </a:solidFill>
                <a:latin typeface="Montserrat" panose="00000500000000000000" pitchFamily="2" charset="0"/>
                <a:ea typeface="xkcd Script" panose="03000503000000000000" pitchFamily="66" charset="0"/>
                <a:cs typeface="Segoe UI" panose="020B0502040204020203" pitchFamily="34" charset="0"/>
              </a:rPr>
              <a:t>Aprendizaje automático en el modelado de la propagación de ondas: De los métodos numéricos estándar a las redes neuronales informadas por la física en sismología</a:t>
            </a:r>
            <a:endParaRPr lang="es-CO" sz="2400" b="1" dirty="0">
              <a:solidFill>
                <a:srgbClr val="0070C0"/>
              </a:solidFill>
              <a:latin typeface="Montserrat" panose="00000500000000000000" pitchFamily="2" charset="0"/>
              <a:ea typeface="xkcd Script" panose="03000503000000000000" pitchFamily="66" charset="0"/>
              <a:cs typeface="Segoe UI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241A18-AAD6-4D5F-9AF2-13D545084A6E}"/>
              </a:ext>
            </a:extLst>
          </p:cNvPr>
          <p:cNvSpPr txBox="1"/>
          <p:nvPr/>
        </p:nvSpPr>
        <p:spPr>
          <a:xfrm>
            <a:off x="1093100" y="3429000"/>
            <a:ext cx="306198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Oscar Andrés Rincón Cardeño</a:t>
            </a:r>
          </a:p>
          <a:p>
            <a:r>
              <a:rPr lang="es-MX" sz="16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Doctorado en Ingeniería</a:t>
            </a:r>
          </a:p>
          <a:p>
            <a:endParaRPr lang="es-MX" sz="1600" dirty="0">
              <a:latin typeface="Montserrat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s-MX" sz="16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Aplicaciones Matemáticas en Ciencia e Ingeniería </a:t>
            </a:r>
          </a:p>
          <a:p>
            <a:r>
              <a:rPr lang="es-MX" sz="16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Universidad EAFIT </a:t>
            </a:r>
          </a:p>
          <a:p>
            <a:r>
              <a:rPr lang="es-CO" sz="16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Septiembre del 2026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B602910-8049-7E21-C40B-98025C142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1100" y="3389589"/>
            <a:ext cx="6107800" cy="235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4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>
            <a:extLst>
              <a:ext uri="{FF2B5EF4-FFF2-40B4-BE49-F238E27FC236}">
                <a16:creationId xmlns:a16="http://schemas.microsoft.com/office/drawing/2014/main" id="{830210DF-8429-E740-4D19-C9B04C222C11}"/>
              </a:ext>
            </a:extLst>
          </p:cNvPr>
          <p:cNvSpPr txBox="1"/>
          <p:nvPr/>
        </p:nvSpPr>
        <p:spPr>
          <a:xfrm>
            <a:off x="668337" y="3113362"/>
            <a:ext cx="282536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Se concibe como un continuo que va desde </a:t>
            </a:r>
            <a:r>
              <a:rPr lang="es-ES" sz="1400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modelos puramente basados ​​en datos </a:t>
            </a:r>
            <a:r>
              <a:rPr lang="es-ES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hasta modelos </a:t>
            </a:r>
            <a:r>
              <a:rPr lang="es-ES" sz="1400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totalmente basados ​​en la física</a:t>
            </a:r>
            <a:r>
              <a:rPr lang="es-ES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con los tres mecanismos de sesgo </a:t>
            </a:r>
            <a:r>
              <a:rPr lang="es-ES" sz="1400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(inductivo, observacional y de aprendizaje) </a:t>
            </a:r>
            <a:r>
              <a:rPr lang="es-ES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posicionados según el punto donde interviene en el procedimiento de entrenamiento</a:t>
            </a:r>
            <a:endParaRPr lang="es-MX" sz="1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5" name="CuadroTexto 314">
            <a:extLst>
              <a:ext uri="{FF2B5EF4-FFF2-40B4-BE49-F238E27FC236}">
                <a16:creationId xmlns:a16="http://schemas.microsoft.com/office/drawing/2014/main" id="{54182B40-84EE-BB5B-8692-C3375C995788}"/>
              </a:ext>
            </a:extLst>
          </p:cNvPr>
          <p:cNvSpPr txBox="1"/>
          <p:nvPr/>
        </p:nvSpPr>
        <p:spPr>
          <a:xfrm>
            <a:off x="668337" y="821768"/>
            <a:ext cx="29029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Montserrat" pitchFamily="2" charset="0"/>
                <a:ea typeface="xkcd Script" panose="03000503000000000000" pitchFamily="66" charset="0"/>
                <a:cs typeface="Segoe UI" panose="020B0502040204020203" pitchFamily="34" charset="0"/>
              </a:rPr>
              <a:t>Taxonomía de aprendizaje automático basada en la física y mecanismos de incorporación de conocimiento</a:t>
            </a:r>
            <a:endParaRPr lang="es-CO" sz="2000" b="1" dirty="0">
              <a:solidFill>
                <a:srgbClr val="0070C0"/>
              </a:solidFill>
              <a:latin typeface="Montserrat" pitchFamily="2" charset="0"/>
              <a:cs typeface="Segoe UI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7285FA-78B1-4039-BCBE-D4B666906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87" y="639421"/>
            <a:ext cx="6849032" cy="5231776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078714-3B33-426C-D29E-360BEA033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8686800" y="6256679"/>
            <a:ext cx="3314700" cy="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9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B49BB-3AF3-05C7-EE01-CF6C106C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DB25C27E-4E95-10B5-CC28-D8B5E189F528}"/>
              </a:ext>
            </a:extLst>
          </p:cNvPr>
          <p:cNvSpPr txBox="1"/>
          <p:nvPr/>
        </p:nvSpPr>
        <p:spPr>
          <a:xfrm>
            <a:off x="902927" y="1197355"/>
            <a:ext cx="27618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0070C0"/>
                </a:solidFill>
                <a:latin typeface="Montserrat" pitchFamily="2" charset="0"/>
              </a:rPr>
              <a:t>Problemas inversos no acotados con soluciones manufacturadas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CD162B-7A14-9E6E-E66D-6097F149299F}"/>
              </a:ext>
            </a:extLst>
          </p:cNvPr>
          <p:cNvSpPr txBox="1"/>
          <p:nvPr/>
        </p:nvSpPr>
        <p:spPr>
          <a:xfrm>
            <a:off x="902927" y="2893191"/>
            <a:ext cx="285390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b="1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1) </a:t>
            </a:r>
            <a:r>
              <a:rPr lang="es-CO" sz="14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Aproximación de la solución en </a:t>
            </a:r>
            <a:r>
              <a:rPr lang="es-CO" sz="1400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ausencia de información </a:t>
            </a:r>
            <a:r>
              <a:rPr lang="es-CO" sz="14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explícita</a:t>
            </a:r>
            <a:r>
              <a:rPr lang="es-CO" sz="1400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 sobre las fronteras</a:t>
            </a:r>
          </a:p>
          <a:p>
            <a:endParaRPr lang="es-CO" sz="1400" dirty="0">
              <a:solidFill>
                <a:srgbClr val="0070C0"/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s-CO" sz="1400" b="1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2) </a:t>
            </a:r>
            <a:r>
              <a:rPr lang="es-CO" sz="14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Recuperación de </a:t>
            </a:r>
            <a:r>
              <a:rPr lang="es-CO" sz="1400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coeficientes </a:t>
            </a:r>
            <a:r>
              <a:rPr lang="es-CO" sz="1400" i="1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k</a:t>
            </a:r>
            <a:r>
              <a:rPr lang="es-CO" sz="1400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s-CO" sz="14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desconocidos que varían espacialmente </a:t>
            </a:r>
          </a:p>
          <a:p>
            <a:endParaRPr lang="es-CO" sz="1400" b="1" dirty="0">
              <a:solidFill>
                <a:srgbClr val="0070C0"/>
              </a:solidFill>
              <a:latin typeface="Montserrat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s-CO" sz="1400" b="1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3) </a:t>
            </a:r>
            <a:r>
              <a:rPr lang="es-CO" sz="1400" dirty="0">
                <a:latin typeface="Montserrat" pitchFamily="2" charset="0"/>
                <a:ea typeface="Open Sans" pitchFamily="2" charset="0"/>
                <a:cs typeface="Open Sans" pitchFamily="2" charset="0"/>
              </a:rPr>
              <a:t>Representación del comportamiento de la solución </a:t>
            </a:r>
            <a:r>
              <a:rPr lang="es-CO" sz="1400" dirty="0">
                <a:solidFill>
                  <a:srgbClr val="0070C0"/>
                </a:solidFill>
                <a:latin typeface="Montserrat" pitchFamily="2" charset="0"/>
                <a:ea typeface="Open Sans" pitchFamily="2" charset="0"/>
                <a:cs typeface="Open Sans" pitchFamily="2" charset="0"/>
              </a:rPr>
              <a:t>fuera de la región de entrenamiento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3C1A32-4180-4112-AF2F-434BBA903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372" y="958552"/>
            <a:ext cx="7117602" cy="494089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92443098-0267-CE68-26FD-F0D4EFFAF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8686800" y="6256679"/>
            <a:ext cx="3314700" cy="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5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6E65-C698-7835-9E16-F91941A8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9697FF6B-9CC3-153E-F722-EF9A84B87C3A}"/>
              </a:ext>
            </a:extLst>
          </p:cNvPr>
          <p:cNvSpPr txBox="1"/>
          <p:nvPr/>
        </p:nvSpPr>
        <p:spPr>
          <a:xfrm>
            <a:off x="706349" y="2337896"/>
            <a:ext cx="29443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Dado que el dominio computacional no puede muestrearse uniformemente en una región infinita, </a:t>
            </a:r>
            <a:r>
              <a:rPr lang="es-CO" sz="1400" dirty="0">
                <a:solidFill>
                  <a:srgbClr val="0070C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la elección de los puntos de colocación resulta crucial </a:t>
            </a:r>
            <a:r>
              <a:rPr lang="es-CO" sz="1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para representar con precisión tanto la región donde la solución presenta variaciones significativas como su comportamiento asintótico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EBD963-788E-E75F-5242-2B251EFF2A95}"/>
              </a:ext>
            </a:extLst>
          </p:cNvPr>
          <p:cNvSpPr txBox="1"/>
          <p:nvPr/>
        </p:nvSpPr>
        <p:spPr>
          <a:xfrm>
            <a:off x="661524" y="896686"/>
            <a:ext cx="31464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rgbClr val="0070C0"/>
                </a:solidFill>
                <a:latin typeface="Montserrat" panose="00000500000000000000" pitchFamily="2" charset="0"/>
              </a:rPr>
              <a:t>Estrategias para el aprendizaje basado en la física en dominios no acotados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8D976ED-1B58-4AE4-AE3B-DD0CABAD3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67" y="678114"/>
            <a:ext cx="7620000" cy="52832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BB917775-E486-0488-3CF7-DEF29B629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8686800" y="6256679"/>
            <a:ext cx="3314700" cy="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6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4C7E0-988B-4426-79F8-919BFB41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D8D15D-6F89-4163-AD90-183292B883F0}"/>
              </a:ext>
            </a:extLst>
          </p:cNvPr>
          <p:cNvSpPr txBox="1"/>
          <p:nvPr/>
        </p:nvSpPr>
        <p:spPr>
          <a:xfrm>
            <a:off x="865687" y="1897290"/>
            <a:ext cx="29887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Generalización espacial del enfoque propuesto para el problema inverso de dominio infinito mediante muestreo uniforme y gaussiano</a:t>
            </a:r>
          </a:p>
        </p:txBody>
      </p:sp>
      <p:pic>
        <p:nvPicPr>
          <p:cNvPr id="1560" name="Imagen 1559">
            <a:extLst>
              <a:ext uri="{FF2B5EF4-FFF2-40B4-BE49-F238E27FC236}">
                <a16:creationId xmlns:a16="http://schemas.microsoft.com/office/drawing/2014/main" id="{E6F21920-6E8F-415F-A5EA-F8811C3BE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263" y="352633"/>
            <a:ext cx="6245050" cy="5736192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97837598-D783-0E5A-0427-0F72C6E5D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 flipV="1">
            <a:off x="8753475" y="6275729"/>
            <a:ext cx="3314700" cy="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25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220</Words>
  <Application>Microsoft Office PowerPoint</Application>
  <PresentationFormat>Panorámica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Andres Rincon Cardeño</dc:creator>
  <cp:lastModifiedBy>Oscar Rincon</cp:lastModifiedBy>
  <cp:revision>45</cp:revision>
  <dcterms:created xsi:type="dcterms:W3CDTF">2026-07-31T14:29:08Z</dcterms:created>
  <dcterms:modified xsi:type="dcterms:W3CDTF">2026-09-13T22:41:52Z</dcterms:modified>
</cp:coreProperties>
</file>